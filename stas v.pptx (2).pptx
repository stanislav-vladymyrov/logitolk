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Black"/>
      <p:bold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MontserratBlack-bold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4181765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14181765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d2238c32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dd2238c32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2cf32cc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2cf32cc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2cf32ccc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2cf32ccc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2cf32cc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2cf32cc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2cf32ccc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42cf32ccc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2cf32ccc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42cf32ccc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2cf32ccc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42cf32ccc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3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">
  <p:cSld name="BLANK_1">
    <p:bg>
      <p:bgPr>
        <a:solidFill>
          <a:srgbClr val="95C11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905125" y="1333900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18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Повторення</a:t>
            </a:r>
            <a:endParaRPr b="0" i="0" sz="18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627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 текст">
  <p:cSld name="TITLE_7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905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Згадуємо матеріал</a:t>
            </a:r>
            <a:endParaRPr b="0" i="0" sz="1200" u="none" cap="none" strike="noStrike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A82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">
  <p:cSld name="BLANK_1">
    <p:bg>
      <p:bgPr>
        <a:solidFill>
          <a:srgbClr val="95C11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905125" y="1333900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18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Повторення</a:t>
            </a:r>
            <a:endParaRPr b="0" i="0" sz="18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62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 текст" type="title">
  <p:cSld name="TITLE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905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Згадуємо матеріал</a:t>
            </a:r>
            <a:endParaRPr b="0" i="0" sz="1200" u="none" cap="none" strike="noStrike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A82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говорення" type="blank">
  <p:cSld name="BLANK">
    <p:bg>
      <p:bgPr>
        <a:solidFill>
          <a:srgbClr val="95C11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20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20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896500" y="1272050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Обговорення: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27">
          <p15:clr>
            <a:srgbClr val="E46962"/>
          </p15:clr>
        </p15:guide>
        <p15:guide id="2" orient="horz" pos="1368">
          <p15:clr>
            <a:srgbClr val="E46962"/>
          </p15:clr>
        </p15:guide>
        <p15:guide id="3" orient="horz" pos="1453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лан уроку">
  <p:cSld name="TITLE_8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 rotWithShape="1">
          <a:blip r:embed="rId4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2905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План уроку</a:t>
            </a:r>
            <a:endParaRPr b="0" i="0" sz="12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говорення текст 1">
  <p:cSld name="TITLE_7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2"/>
          <p:cNvPicPr preferRelativeResize="0"/>
          <p:nvPr/>
        </p:nvPicPr>
        <p:blipFill rotWithShape="1">
          <a:blip r:embed="rId4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p22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C11F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95C11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 тема">
  <p:cSld name="CUSTOM_1_1_1_1_1_1_1_1_1_1_3_1_1_4_3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449250" y="31995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DD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884175" y="1919975"/>
            <a:ext cx="4680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Нова тема: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2B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52402" y="1468800"/>
            <a:ext cx="3183836" cy="3158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  <p15:guide id="31" pos="62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 тема текст">
  <p:cSld name="CUSTOM_1_1_1_1_1_1_1_1_1_1_3_1_1_4_1_1_1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0" y="4953000"/>
            <a:ext cx="9144000" cy="198300"/>
          </a:xfrm>
          <a:prstGeom prst="rect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0900" y="4311200"/>
            <a:ext cx="730151" cy="72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 rotWithShape="1">
          <a:blip r:embed="rId3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. Заголовок. Текст.">
  <p:cSld name="CUSTOM_1_1_1_1_1_1_1_1_1_1_3_1_1_4_1_1_1_2_1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 rotWithShape="1">
          <a:blip r:embed="rId2">
            <a:alphaModFix/>
          </a:blip>
          <a:srcRect b="440" l="0" r="-17813" t="-440"/>
          <a:stretch/>
        </p:blipFill>
        <p:spPr>
          <a:xfrm>
            <a:off x="8109665" y="4422100"/>
            <a:ext cx="796124" cy="62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перерви">
  <p:cSld name="CUSTOM_1_1_1_1_1_1_1_1_1_1_3_1_1_4_4_1_1_1">
    <p:bg>
      <p:bgPr>
        <a:solidFill>
          <a:schemeClr val="accent3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E74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6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6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68750" y="2385755"/>
            <a:ext cx="1562075" cy="233964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Перерва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інчення уроку">
  <p:cSld name="CUSTOM_1_1_1_1_1_1_1_1_1_1_3_1_1_4_4_1_1_1_1_1_1_1">
    <p:bg>
      <p:bgPr>
        <a:solidFill>
          <a:srgbClr val="DDF0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DD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31125" y="1399450"/>
            <a:ext cx="3134900" cy="3406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Завершення уроку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інчення уроку текст">
  <p:cSld name="CUSTOM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25" y="4917475"/>
            <a:ext cx="9144000" cy="22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8700" y="4365200"/>
            <a:ext cx="508225" cy="5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234000" y="4647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Завершення уроку</a:t>
            </a:r>
            <a:endParaRPr b="0" i="0" sz="1400" u="none" cap="none" strike="noStrike">
              <a:solidFill>
                <a:schemeClr val="accent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Новая тема»">
  <p:cSld name="CUSTOM_1_1_1_1_1_1_1_1_1_1_3_1_1_4_4_1">
    <p:bg>
      <p:bgPr>
        <a:solidFill>
          <a:schemeClr val="accent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 b="0" l="416" r="406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-59" l="-11184" r="-21335" t="60"/>
          <a:stretch/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обота на платформі текст">
  <p:cSld name="CUSTOM_1_1_1_1_1_1_1_1_1_1_3_1_1_4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0" y="4939350"/>
            <a:ext cx="9144000" cy="212100"/>
          </a:xfrm>
          <a:prstGeom prst="rect">
            <a:avLst/>
          </a:prstGeom>
          <a:solidFill>
            <a:srgbClr val="374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8296" y="4234153"/>
            <a:ext cx="870999" cy="78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 rotWithShape="1">
          <a:blip r:embed="rId3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C92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374C9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ня">
  <p:cSld name="CAPTION_ONLY">
    <p:bg>
      <p:bgPr>
        <a:solidFill>
          <a:srgbClr val="FF814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/>
          <p:nvPr/>
        </p:nvSpPr>
        <p:spPr>
          <a:xfrm>
            <a:off x="511675" y="31995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FF8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1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31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0274" y="1893872"/>
            <a:ext cx="2289275" cy="318507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1"/>
          <p:cNvSpPr txBox="1"/>
          <p:nvPr/>
        </p:nvSpPr>
        <p:spPr>
          <a:xfrm>
            <a:off x="915375" y="1959225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Повторення: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ня текст">
  <p:cSld name="BIG_NUMBER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/>
          <p:nvPr/>
        </p:nvSpPr>
        <p:spPr>
          <a:xfrm>
            <a:off x="-8050" y="4968325"/>
            <a:ext cx="9144000" cy="175200"/>
          </a:xfrm>
          <a:prstGeom prst="rect">
            <a:avLst/>
          </a:prstGeom>
          <a:solidFill>
            <a:srgbClr val="FF8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1975" y="4010950"/>
            <a:ext cx="1066175" cy="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 rotWithShape="1">
          <a:blip r:embed="rId3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/>
        </p:nvSpPr>
        <p:spPr>
          <a:xfrm>
            <a:off x="3886200" y="3200400"/>
            <a:ext cx="762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2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14B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FF814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а">
  <p:cSld name="CUSTOM_1_1_1_1_1_1_1_1_1_1_3_1_1_4">
    <p:bg>
      <p:bgPr>
        <a:solidFill>
          <a:srgbClr val="602B7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Завантажити методичку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4" name="Google Shape;17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3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33"/>
          <p:cNvSpPr txBox="1"/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id="177" name="Google Shape;1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25" y="1903000"/>
            <a:ext cx="4048927" cy="308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4599" y="311176"/>
            <a:ext cx="3096909" cy="12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ова робота">
  <p:cSld name="CUSTOM_1_1_1_1_1_1_1_1_1_1_3_1_1_4_4_1_1_1_2">
    <p:bg>
      <p:bgPr>
        <a:solidFill>
          <a:srgbClr val="38761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81244" y="914400"/>
            <a:ext cx="3814707" cy="346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4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Групова робота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ова робота текст">
  <p:cSld name="CUSTOM_1_1_1_1_1_1_1_1_1_1_3_1_1_4_1_1_1_1_1_1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0" y="4989275"/>
            <a:ext cx="9144000" cy="162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35"/>
          <p:cNvPicPr preferRelativeResize="0"/>
          <p:nvPr/>
        </p:nvPicPr>
        <p:blipFill rotWithShape="1">
          <a:blip r:embed="rId2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769" y="4320561"/>
            <a:ext cx="737101" cy="6687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5"/>
          <p:cNvSpPr txBox="1"/>
          <p:nvPr/>
        </p:nvSpPr>
        <p:spPr>
          <a:xfrm>
            <a:off x="416075" y="4619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Групова робота</a:t>
            </a:r>
            <a:endParaRPr b="0" i="0" sz="1200" u="none" cap="none" strike="noStrike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перерви текст">
  <p:cSld name="CUSTOM_1_1_1_1_1_1_1_1_1_1_3_1_1_4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/>
          <p:nvPr/>
        </p:nvSpPr>
        <p:spPr>
          <a:xfrm>
            <a:off x="0" y="4989275"/>
            <a:ext cx="9144000" cy="16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9800" y="4331600"/>
            <a:ext cx="439100" cy="6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6"/>
          <p:cNvPicPr preferRelativeResize="0"/>
          <p:nvPr/>
        </p:nvPicPr>
        <p:blipFill rotWithShape="1">
          <a:blip r:embed="rId3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E7416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Перерва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обота на платформі">
  <p:cSld name="CUSTOM_1_1_1_1_1_1_1_1_1_1_3_1_1_4_4_1_1_1_1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7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374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7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37"/>
          <p:cNvSpPr txBox="1"/>
          <p:nvPr/>
        </p:nvSpPr>
        <p:spPr>
          <a:xfrm>
            <a:off x="884175" y="1996175"/>
            <a:ext cx="406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Робота на платформі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1569" y="2026425"/>
            <a:ext cx="3065500" cy="275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5" name="Google Shape;215;p40"/>
          <p:cNvSpPr txBox="1"/>
          <p:nvPr>
            <p:ph idx="2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C92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374C9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_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3"/>
          <p:cNvPicPr preferRelativeResize="0"/>
          <p:nvPr/>
        </p:nvPicPr>
        <p:blipFill rotWithShape="1">
          <a:blip r:embed="rId2">
            <a:alphaModFix/>
          </a:blip>
          <a:srcRect b="0" l="0" r="-33743" t="-2827"/>
          <a:stretch/>
        </p:blipFill>
        <p:spPr>
          <a:xfrm>
            <a:off x="8326428" y="4465151"/>
            <a:ext cx="696338" cy="5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3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. Заголовок. Текст.">
  <p:cSld name="CUSTOM_1_1_1_1_1_1_1_1_1_1_3_1_1_4_1_1_1_3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44"/>
          <p:cNvPicPr preferRelativeResize="0"/>
          <p:nvPr/>
        </p:nvPicPr>
        <p:blipFill rotWithShape="1">
          <a:blip r:embed="rId2">
            <a:alphaModFix/>
          </a:blip>
          <a:srcRect b="-1306" l="-12762" r="-44222" t="-10338"/>
          <a:stretch/>
        </p:blipFill>
        <p:spPr>
          <a:xfrm>
            <a:off x="8201775" y="4388625"/>
            <a:ext cx="818001" cy="65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4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2" name="Google Shape;232;p44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44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">
  <p:cSld name="CUSTOM_1_1_1_1_1_1_1_1_1_1_3_1_1_4_4_1_1_1_1_1"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5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45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40" name="Google Shape;240;p45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Обсуждение»">
  <p:cSld name="CUSTOM_1_1_1_1_1_1_1_1_1_1_3_1_1_4_4_1_1_2">
    <p:bg>
      <p:bgPr>
        <a:solidFill>
          <a:schemeClr val="accent4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6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6"/>
          <p:cNvPicPr preferRelativeResize="0"/>
          <p:nvPr/>
        </p:nvPicPr>
        <p:blipFill rotWithShape="1">
          <a:blip r:embed="rId2">
            <a:alphaModFix/>
          </a:blip>
          <a:srcRect b="0" l="416" r="406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6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47" name="Google Shape;247;p46"/>
          <p:cNvPicPr preferRelativeResize="0"/>
          <p:nvPr/>
        </p:nvPicPr>
        <p:blipFill rotWithShape="1">
          <a:blip r:embed="rId3">
            <a:alphaModFix/>
          </a:blip>
          <a:srcRect b="0" l="0" r="-33743" t="-2827"/>
          <a:stretch/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 1">
  <p:cSld name="CUSTOM_1_1_1_1_1_1_1_1_1_1_3_1_1_4_4_1_1_1_1_2">
    <p:bg>
      <p:bgPr>
        <a:solidFill>
          <a:schemeClr val="accen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7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47"/>
          <p:cNvPicPr preferRelativeResize="0"/>
          <p:nvPr/>
        </p:nvPicPr>
        <p:blipFill rotWithShape="1">
          <a:blip r:embed="rId2">
            <a:alphaModFix/>
          </a:blip>
          <a:srcRect b="0" l="416" r="406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7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54" name="Google Shape;254;p47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Завершение урока»">
  <p:cSld name="CUSTOM_1_1_1_1_1_1_1_1_1_1_3_1_1_4_4_1_1_1_1_1_1_1_1">
    <p:bg>
      <p:bgPr>
        <a:solidFill>
          <a:schemeClr val="accent3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8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8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 rotWithShape="1">
          <a:blip r:embed="rId2">
            <a:alphaModFix/>
          </a:blip>
          <a:srcRect b="0" l="416" r="406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8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48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61" name="Google Shape;26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. Заголовок. Текст.">
  <p:cSld name="CUSTOM_1_1_1_1_1_1_1_1_1_1_3_1_1_4_1_1_1_1_2"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49"/>
          <p:cNvPicPr preferRelativeResize="0"/>
          <p:nvPr/>
        </p:nvPicPr>
        <p:blipFill rotWithShape="1">
          <a:blip r:embed="rId2">
            <a:alphaModFix/>
          </a:blip>
          <a:srcRect b="0" l="300" r="-300" t="0"/>
          <a:stretch/>
        </p:blipFill>
        <p:spPr>
          <a:xfrm>
            <a:off x="7863248" y="4465175"/>
            <a:ext cx="991301" cy="57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9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49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p49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 1 1">
  <p:cSld name="CUSTOM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0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  <p15:guide id="4" pos="1996">
          <p15:clr>
            <a:srgbClr val="93C47D"/>
          </p15:clr>
        </p15:guide>
        <p15:guide id="5" pos="3762">
          <p15:clr>
            <a:srgbClr val="6AA84F"/>
          </p15:clr>
        </p15:guide>
        <p15:guide id="6" pos="2109">
          <p15:clr>
            <a:schemeClr val="accent4"/>
          </p15:clr>
        </p15:guide>
        <p15:guide id="7" pos="1882">
          <p15:clr>
            <a:schemeClr val="accent4"/>
          </p15:clr>
        </p15:guide>
        <p15:guide id="8" pos="3649">
          <p15:clr>
            <a:schemeClr val="accent4"/>
          </p15:clr>
        </p15:guide>
        <p15:guide id="9" pos="3876">
          <p15:clr>
            <a:schemeClr val="accent4"/>
          </p15:clr>
        </p15:guide>
        <p15:guide id="10" orient="horz" pos="426">
          <p15:clr>
            <a:srgbClr val="B7B7B7"/>
          </p15:clr>
        </p15:guide>
        <p15:guide id="11" orient="horz" pos="625">
          <p15:clr>
            <a:srgbClr val="B7B7B7"/>
          </p15:clr>
        </p15:guide>
        <p15:guide id="12" orient="horz" pos="824">
          <p15:clr>
            <a:srgbClr val="B7B7B7"/>
          </p15:clr>
        </p15:guide>
        <p15:guide id="13" orient="horz" pos="1023">
          <p15:clr>
            <a:srgbClr val="B7B7B7"/>
          </p15:clr>
        </p15:guide>
        <p15:guide id="14" orient="horz" pos="1222">
          <p15:clr>
            <a:srgbClr val="B7B7B7"/>
          </p15:clr>
        </p15:guide>
        <p15:guide id="15" orient="horz" pos="1421">
          <p15:clr>
            <a:srgbClr val="B7B7B7"/>
          </p15:clr>
        </p15:guide>
        <p15:guide id="16" orient="horz" pos="1620">
          <p15:clr>
            <a:srgbClr val="B7B7B7"/>
          </p15:clr>
        </p15:guide>
        <p15:guide id="17" orient="horz" pos="1819">
          <p15:clr>
            <a:srgbClr val="B7B7B7"/>
          </p15:clr>
        </p15:guide>
        <p15:guide id="18" orient="horz" pos="2018">
          <p15:clr>
            <a:srgbClr val="B7B7B7"/>
          </p15:clr>
        </p15:guide>
        <p15:guide id="19" orient="horz" pos="2217">
          <p15:clr>
            <a:srgbClr val="B7B7B7"/>
          </p15:clr>
        </p15:guide>
        <p15:guide id="20" orient="horz" pos="2416">
          <p15:clr>
            <a:srgbClr val="B7B7B7"/>
          </p15:clr>
        </p15:guide>
        <p15:guide id="21" orient="horz" pos="2615">
          <p15:clr>
            <a:srgbClr val="B7B7B7"/>
          </p15:clr>
        </p15:guide>
        <p15:guide id="22" orient="horz" pos="2814">
          <p15:clr>
            <a:srgbClr val="B7B7B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 текст 1">
  <p:cSld name="TITLE_7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2"/>
          <p:cNvPicPr preferRelativeResize="0"/>
          <p:nvPr/>
        </p:nvPicPr>
        <p:blipFill rotWithShape="1">
          <a:blip r:embed="rId4">
            <a:alphaModFix amt="25000"/>
          </a:blip>
          <a:srcRect b="0" l="19778" r="15096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2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7" name="Google Shape;277;p52"/>
          <p:cNvSpPr txBox="1"/>
          <p:nvPr/>
        </p:nvSpPr>
        <p:spPr>
          <a:xfrm>
            <a:off x="2905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Згадуємо матеріал</a:t>
            </a:r>
            <a:endParaRPr b="0" i="0" sz="1200" u="none" cap="none" strike="noStrike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A82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1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27.xml"/><Relationship Id="rId35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29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36.png"/><Relationship Id="rId8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02B7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500" y="-1"/>
            <a:ext cx="3013499" cy="30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00" y="379899"/>
            <a:ext cx="4784399" cy="12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250" y="4284875"/>
            <a:ext cx="525125" cy="5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600" y="4329675"/>
            <a:ext cx="1535075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600" y="4586725"/>
            <a:ext cx="1578550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4725" y="1495825"/>
            <a:ext cx="3907850" cy="28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3"/>
          <p:cNvSpPr txBox="1"/>
          <p:nvPr>
            <p:ph type="ctrTitle"/>
          </p:nvPr>
        </p:nvSpPr>
        <p:spPr>
          <a:xfrm>
            <a:off x="333825" y="1541550"/>
            <a:ext cx="4886700" cy="15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24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b="1" sz="3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28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Презентація моєї версії</a:t>
            </a:r>
            <a:endParaRPr b="1" sz="28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3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“LogiTalk”</a:t>
            </a:r>
            <a:endParaRPr b="1" sz="3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b="1" sz="3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4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Мої враження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4327513" y="23819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4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Обговорення: мої враження</a:t>
            </a:r>
            <a:endParaRPr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54"/>
          <p:cNvSpPr txBox="1"/>
          <p:nvPr/>
        </p:nvSpPr>
        <p:spPr>
          <a:xfrm>
            <a:off x="408150" y="1004100"/>
            <a:ext cx="83229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300"/>
              <a:t>Найцікавіше:</a:t>
            </a:r>
            <a:r>
              <a:rPr lang="ru" sz="2300"/>
              <a:t> бачити, як ідея стає готовим проєктом.</a:t>
            </a:r>
            <a:br>
              <a:rPr lang="ru" sz="2300"/>
            </a:br>
            <a:r>
              <a:rPr b="1" lang="ru" sz="2300"/>
              <a:t>Найважче:</a:t>
            </a:r>
            <a:r>
              <a:rPr lang="ru" sz="2300"/>
              <a:t> зібрати все докупи — але впорався.</a:t>
            </a:r>
            <a:br>
              <a:rPr lang="ru" sz="2300"/>
            </a:br>
            <a:r>
              <a:rPr b="1" lang="ru" sz="2300"/>
              <a:t>Зробив би інакше:</a:t>
            </a:r>
            <a:r>
              <a:rPr lang="ru" sz="2300"/>
              <a:t> більше планування з самого початку.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5"/>
          <p:cNvSpPr/>
          <p:nvPr/>
        </p:nvSpPr>
        <p:spPr>
          <a:xfrm>
            <a:off x="4327513" y="23819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5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Обговорення: Я з </a:t>
            </a: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усім</a:t>
            </a: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 впорався!!!</a:t>
            </a:r>
            <a:endParaRPr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55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Складнощі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04" name="Google Shape;304;p55"/>
          <p:cNvSpPr txBox="1"/>
          <p:nvPr/>
        </p:nvSpPr>
        <p:spPr>
          <a:xfrm>
            <a:off x="0" y="1014750"/>
            <a:ext cx="87480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Найскладніше:</a:t>
            </a:r>
            <a:r>
              <a:rPr lang="ru" sz="1700"/>
              <a:t> зібрати всі частини проєкту в одну логічну систему.</a:t>
            </a:r>
            <a:br>
              <a:rPr lang="ru" sz="1700"/>
            </a:b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Як вирішив:</a:t>
            </a:r>
            <a:r>
              <a:rPr lang="ru" sz="1700"/>
              <a:t> розбив задачу на маленькі кроки, тестував окремо кожну частину, терпляче налагоджував.</a:t>
            </a:r>
            <a:br>
              <a:rPr lang="ru" sz="1700"/>
            </a:b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Що хотів додати, але не встиг:</a:t>
            </a:r>
            <a:r>
              <a:rPr lang="ru" sz="1700"/>
              <a:t> додаткові функції/оптимізації для покращення зручності та дизайну.</a:t>
            </a:r>
            <a:br>
              <a:rPr lang="ru" sz="1700"/>
            </a:b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6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мій дизайн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0" name="Google Shape;310;p56"/>
          <p:cNvSpPr/>
          <p:nvPr/>
        </p:nvSpPr>
        <p:spPr>
          <a:xfrm>
            <a:off x="4327513" y="23819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6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Обговорення: інтерфейс LogiTalk</a:t>
            </a:r>
            <a:endParaRPr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56"/>
          <p:cNvSpPr txBox="1"/>
          <p:nvPr/>
        </p:nvSpPr>
        <p:spPr>
          <a:xfrm>
            <a:off x="0" y="753150"/>
            <a:ext cx="64224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ru" sz="2200"/>
              <a:t>Чому вибрав цей дизайн:</a:t>
            </a:r>
            <a:r>
              <a:rPr lang="ru" sz="2200"/>
              <a:t> зрозумілий, мінімалістичний і сучасний</a:t>
            </a:r>
            <a:br>
              <a:rPr lang="ru" sz="2200"/>
            </a:br>
            <a:endParaRPr sz="28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ru" sz="2200"/>
              <a:t>Причина вибору:</a:t>
            </a:r>
            <a:r>
              <a:rPr lang="ru" sz="2200"/>
              <a:t> простота і сучасність</a:t>
            </a:r>
            <a:br>
              <a:rPr lang="ru" sz="2200"/>
            </a:b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7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Технічна складова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8" name="Google Shape;318;p57"/>
          <p:cNvSpPr/>
          <p:nvPr/>
        </p:nvSpPr>
        <p:spPr>
          <a:xfrm>
            <a:off x="4327513" y="23819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7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Обговорення: інтерфейс LogiTalk</a:t>
            </a:r>
            <a:endParaRPr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57"/>
          <p:cNvSpPr txBox="1"/>
          <p:nvPr/>
        </p:nvSpPr>
        <p:spPr>
          <a:xfrm>
            <a:off x="288775" y="729263"/>
            <a:ext cx="78822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000"/>
              <a:t>Аналогія:</a:t>
            </a:r>
            <a:br>
              <a:rPr b="1" lang="ru" sz="2000"/>
            </a:br>
            <a:r>
              <a:rPr lang="ru" sz="2000"/>
              <a:t> Уявіть, що ваш додаток — це поштовий ящик, а сервер — поштар.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ru" sz="2000"/>
              <a:t>Користувач пише повідомлення.</a:t>
            </a:r>
            <a:br>
              <a:rPr lang="ru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" sz="2000"/>
              <a:t>Повідомлення «кладеться» в локальний ящик додатку (тимчасово зберігається на телефоні або комп’ютері).</a:t>
            </a:r>
            <a:br>
              <a:rPr lang="ru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" sz="2000"/>
              <a:t>Додаток відображає його на екрані одразу, щоб користувач бачив, що повідомлення «готове до відправки».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8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Технічна складова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6" name="Google Shape;326;p58"/>
          <p:cNvSpPr/>
          <p:nvPr/>
        </p:nvSpPr>
        <p:spPr>
          <a:xfrm>
            <a:off x="4327513" y="23819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50" y="751147"/>
            <a:ext cx="8166626" cy="4064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9"/>
          <p:cNvSpPr txBox="1"/>
          <p:nvPr/>
        </p:nvSpPr>
        <p:spPr>
          <a:xfrm>
            <a:off x="2887050" y="174625"/>
            <a:ext cx="3369900" cy="4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Покращення</a:t>
            </a:r>
            <a:endParaRPr sz="21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33" name="Google Shape;333;p59"/>
          <p:cNvSpPr/>
          <p:nvPr/>
        </p:nvSpPr>
        <p:spPr>
          <a:xfrm>
            <a:off x="3750363" y="2449875"/>
            <a:ext cx="3839100" cy="1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9"/>
          <p:cNvSpPr txBox="1"/>
          <p:nvPr/>
        </p:nvSpPr>
        <p:spPr>
          <a:xfrm>
            <a:off x="407450" y="1256200"/>
            <a:ext cx="76785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400"/>
              <a:t>Плани на розвиток проєкту</a:t>
            </a:r>
            <a:endParaRPr b="1" sz="24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Кращий дизайн:</a:t>
            </a:r>
            <a:r>
              <a:rPr lang="ru" sz="1800"/>
              <a:t> більш сучасний, зручний та приємний для користувача</a:t>
            </a:r>
            <a:br>
              <a:rPr lang="ru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Відправка голосових повідомлень:</a:t>
            </a:r>
            <a:r>
              <a:rPr lang="ru" sz="1800"/>
              <a:t> додати можливість запису та відправки аудіо</a:t>
            </a:r>
            <a:br>
              <a:rPr lang="ru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Що покращив би, якби було більше часу:</a:t>
            </a:r>
            <a:r>
              <a:rPr lang="ru" sz="1800"/>
              <a:t> оптимізація коду, додаткові функції, тестування всіх сценаріїв використання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41299" y="1445850"/>
            <a:ext cx="2205251" cy="220525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0"/>
          <p:cNvSpPr txBox="1"/>
          <p:nvPr/>
        </p:nvSpPr>
        <p:spPr>
          <a:xfrm>
            <a:off x="2387875" y="1738000"/>
            <a:ext cx="6498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latin typeface="Montserrat Black"/>
                <a:ea typeface="Montserrat Black"/>
                <a:cs typeface="Montserrat Black"/>
                <a:sym typeface="Montserrat Black"/>
              </a:rPr>
              <a:t>Дякую за увагу !</a:t>
            </a:r>
            <a:endParaRPr sz="48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Г</a:t>
            </a:r>
            <a:r>
              <a:rPr lang="ru"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отовий вислухати ваші запитання</a:t>
            </a:r>
            <a:endParaRPr sz="2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41" name="Google Shape;34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6874" y="3150400"/>
            <a:ext cx="1961600" cy="19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675" y="137575"/>
            <a:ext cx="814675" cy="8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ogika 2024/25">
  <a:themeElements>
    <a:clrScheme name="Simple Light">
      <a:dk1>
        <a:srgbClr val="602B7A"/>
      </a:dk1>
      <a:lt1>
        <a:srgbClr val="FFFFFF"/>
      </a:lt1>
      <a:dk2>
        <a:srgbClr val="FFD631"/>
      </a:dk2>
      <a:lt2>
        <a:srgbClr val="DDF0FB"/>
      </a:lt2>
      <a:accent1>
        <a:srgbClr val="FF814B"/>
      </a:accent1>
      <a:accent2>
        <a:srgbClr val="374C92"/>
      </a:accent2>
      <a:accent3>
        <a:srgbClr val="E7416C"/>
      </a:accent3>
      <a:accent4>
        <a:srgbClr val="95C11F"/>
      </a:accent4>
      <a:accent5>
        <a:srgbClr val="29235C"/>
      </a:accent5>
      <a:accent6>
        <a:srgbClr val="E63417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